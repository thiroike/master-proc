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CB67-1D44-4384-8F02-2DEC584C8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0E6339-D2AE-4054-9A1D-554893555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FC9D0E-701A-4B34-A0F3-BE51AC163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D78117-BBFA-4BC0-B0AA-23295927A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6FEE8C-E030-4BB1-8E78-D7C5F58F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16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05F61F-5921-4DD8-9167-7AE615027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E74BD4-FA2B-4AC1-9C27-45ED9A59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45A182-9739-41A3-9D51-2C0A2F57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6EC2BC-DE68-4494-8C0C-B207DF1A3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1CC597-1324-44C4-A29E-C9BCF5BF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0203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0FAB07-1584-407A-9220-A45C55110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1C4534-9270-4074-95F2-D7F8CC759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34BE46-B384-4778-A313-100101B8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71B1DA-5C34-466C-8328-1FD3ED93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086474-C86A-43E3-8199-409843C2F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5041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82002F-8985-4281-A131-A49D544F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4FC870-4A1C-4EEC-B564-0F4AD217C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E28326-D969-420A-BF34-19A7D94F7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56CD5D-4833-4C91-A752-D2ADA802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430BA2-C755-4372-9E20-6E6FC020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11A49F-88D5-4A47-BC64-7FBA62E1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020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78384A-E2B0-4F46-B0A9-D2E65C03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0E68FB-F68C-404B-8624-A7E9105C0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A2FD8A-07FF-4726-899B-315B3E4C3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6803CD8-2D8F-44D8-AE34-DBDFEEB3D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46D799-1F29-40ED-8BAC-786477D9A8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4DCC0CC-9E90-4F52-A0C0-7654C64B9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F2E040-4B67-4397-A2AF-44E0C757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FB419A6-A6B5-4E1F-8F01-94760FFA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8158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BC6045-F8CE-42A8-BA2E-5E79E3526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33BC953-96EC-4862-AF95-F9DB5594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88D0605-76ED-4F68-90FA-BE820B812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80B0618-F1C6-4425-9914-BA27D6D3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98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B97CC0A-9678-4004-A1E4-F44968E4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972D793-CE22-451E-8708-C64C9D315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362D51-AE96-4DA8-9EEC-2DE33EC9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789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A65ABB-5662-4BDA-82B4-DD3055252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304960-E99A-41A3-B6CA-165AAFF52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A3EF83A-5C13-4380-9BA9-024CD2669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29BD2B-E62F-438D-9494-880DBE61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C1DAB6-A02D-4A4F-8C92-F31A1330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7EDFAA-F753-465B-B466-C77CE64F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1365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6C4DD3-9C61-48C5-90C0-0626AFF3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770B8DE-4302-44CB-B6DF-635D60C37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00D30D-5A33-4535-A845-63DAE9C8D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640A34-EF29-4AE2-9423-5EED6349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56C3D9-66C5-44CE-8F93-9C2E66E4A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492157-AE79-4B82-AC8B-53FA71DB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0235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15B945-D30F-4E2B-8416-AD69E052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860830-9600-4A7F-A93C-ACD5F38C1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91A50B-85F9-4C46-A658-7A441794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A8E9CA-E414-42D4-9B93-8596C229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980188-9268-4DB1-A675-09CEFACF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616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8408815-66FC-4BB8-ACC3-324B89DB57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EDE026-F26E-429D-A754-1A5C22979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A78EFF-B05B-45AB-87E8-A4D48560C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11C33A-35DE-414E-A30F-FC3253986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9B1C4F-4BB8-4D9C-A39F-A1AA161E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222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1522F6C-4B6D-480E-88CA-A878C0CB1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F37453-E345-418E-AE6C-0605462AA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2602B0-B4D7-46F9-97F7-B74A02E74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D44F7-D774-4572-AD68-A626C0434404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A046FF-3592-4FA8-A118-C18752925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9EB988-E06C-4B84-A93F-D2B8CD781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060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86675A1-6B88-4DB6-BFE2-9FE3F4300EEF}"/>
              </a:ext>
            </a:extLst>
          </p:cNvPr>
          <p:cNvGrpSpPr/>
          <p:nvPr/>
        </p:nvGrpSpPr>
        <p:grpSpPr>
          <a:xfrm>
            <a:off x="0" y="242597"/>
            <a:ext cx="12005151" cy="727594"/>
            <a:chOff x="0" y="6130406"/>
            <a:chExt cx="12005151" cy="727594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8BCB758-962F-498F-A4D0-EB9BEF521996}"/>
                </a:ext>
              </a:extLst>
            </p:cNvPr>
            <p:cNvSpPr txBox="1"/>
            <p:nvPr/>
          </p:nvSpPr>
          <p:spPr>
            <a:xfrm>
              <a:off x="10153362" y="6211669"/>
              <a:ext cx="18517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Adaptive</a:t>
              </a:r>
            </a:p>
            <a:p>
              <a:pPr algn="ctr"/>
              <a:r>
                <a:rPr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PolyDice-1 Loss</a:t>
              </a:r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86C71621-584C-421C-A009-054159EB8511}"/>
                </a:ext>
              </a:extLst>
            </p:cNvPr>
            <p:cNvSpPr txBox="1"/>
            <p:nvPr/>
          </p:nvSpPr>
          <p:spPr>
            <a:xfrm>
              <a:off x="1709504" y="6161184"/>
              <a:ext cx="1544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Ground Truth</a:t>
              </a:r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48F7313D-AF1E-4F7B-B988-F9E656AFEFFF}"/>
                    </a:ext>
                  </a:extLst>
                </p:cNvPr>
                <p:cNvSpPr txBox="1"/>
                <p:nvPr/>
              </p:nvSpPr>
              <p:spPr>
                <a:xfrm>
                  <a:off x="6714277" y="6165503"/>
                  <a:ext cx="185178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PolyDice-1 Loss</a:t>
                  </a:r>
                </a:p>
                <a:p>
                  <a:pPr algn="ctr"/>
                  <a:r>
                    <a:rPr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𝜖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=0.0</m:t>
                      </m:r>
                      <m:r>
                        <m:rPr>
                          <m:nor/>
                        </m:rPr>
                        <a:rPr lang="en-US" altLang="ja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)</m:t>
                      </m:r>
                    </m:oMath>
                  </a14:m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48F7313D-AF1E-4F7B-B988-F9E656AFEF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277" y="6165503"/>
                  <a:ext cx="1851789" cy="646331"/>
                </a:xfrm>
                <a:prstGeom prst="rect">
                  <a:avLst/>
                </a:prstGeom>
                <a:blipFill>
                  <a:blip r:embed="rId2"/>
                  <a:stretch>
                    <a:fillRect l="-2303" t="-5660" r="-2632" b="-754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E1B6F6E5-15BB-4D4A-9B53-DE75651BDAE1}"/>
                </a:ext>
              </a:extLst>
            </p:cNvPr>
            <p:cNvSpPr txBox="1"/>
            <p:nvPr/>
          </p:nvSpPr>
          <p:spPr>
            <a:xfrm>
              <a:off x="5270451" y="6165503"/>
              <a:ext cx="1300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Focal Loss</a:t>
              </a:r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ED7CDA84-F9A9-445E-8013-C812B18867EC}"/>
                    </a:ext>
                  </a:extLst>
                </p:cNvPr>
                <p:cNvSpPr txBox="1"/>
                <p:nvPr/>
              </p:nvSpPr>
              <p:spPr>
                <a:xfrm>
                  <a:off x="8485116" y="6211669"/>
                  <a:ext cx="185178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PolyDice-1 Loss</a:t>
                  </a:r>
                </a:p>
                <a:p>
                  <a:pPr algn="ctr"/>
                  <a:r>
                    <a:rPr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𝜖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opt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.)</m:t>
                      </m:r>
                    </m:oMath>
                  </a14:m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ED7CDA84-F9A9-445E-8013-C812B1886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5116" y="6211669"/>
                  <a:ext cx="1851789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2632" t="-4717" r="-2303" b="-84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CF047E92-9C64-4D05-8926-87E0E059B7FE}"/>
                </a:ext>
              </a:extLst>
            </p:cNvPr>
            <p:cNvSpPr txBox="1"/>
            <p:nvPr/>
          </p:nvSpPr>
          <p:spPr>
            <a:xfrm>
              <a:off x="0" y="6130406"/>
              <a:ext cx="15359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>
                  <a:latin typeface="Arial" panose="020B0604020202020204" pitchFamily="34" charset="0"/>
                  <a:cs typeface="Arial" panose="020B0604020202020204" pitchFamily="34" charset="0"/>
                </a:rPr>
                <a:t>Input Image</a:t>
              </a:r>
              <a:endParaRPr kumimoji="1" lang="ja-JP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CD7A741F-11F0-4AB1-B8C3-0E76B5EBA077}"/>
                </a:ext>
              </a:extLst>
            </p:cNvPr>
            <p:cNvSpPr txBox="1"/>
            <p:nvPr/>
          </p:nvSpPr>
          <p:spPr>
            <a:xfrm>
              <a:off x="3602204" y="6161184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Dice Loss</a:t>
              </a:r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4953632-12D2-4AAF-B23F-A6E7BBC44EF3}"/>
              </a:ext>
            </a:extLst>
          </p:cNvPr>
          <p:cNvGrpSpPr/>
          <p:nvPr/>
        </p:nvGrpSpPr>
        <p:grpSpPr>
          <a:xfrm>
            <a:off x="228600" y="970191"/>
            <a:ext cx="11384057" cy="5653613"/>
            <a:chOff x="228600" y="197305"/>
            <a:chExt cx="11384057" cy="5653613"/>
          </a:xfrm>
        </p:grpSpPr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DE6136C7-2F74-4B52-B946-93992BEC2887}"/>
                </a:ext>
              </a:extLst>
            </p:cNvPr>
            <p:cNvGrpSpPr/>
            <p:nvPr/>
          </p:nvGrpSpPr>
          <p:grpSpPr>
            <a:xfrm>
              <a:off x="228600" y="4067885"/>
              <a:ext cx="11384057" cy="1071024"/>
              <a:chOff x="228600" y="4734975"/>
              <a:chExt cx="11384057" cy="1071024"/>
            </a:xfrm>
          </p:grpSpPr>
          <p:pic>
            <p:nvPicPr>
              <p:cNvPr id="38" name="図 37">
                <a:extLst>
                  <a:ext uri="{FF2B5EF4-FFF2-40B4-BE49-F238E27FC236}">
                    <a16:creationId xmlns:a16="http://schemas.microsoft.com/office/drawing/2014/main" id="{A7EA7154-7902-4AC6-96B5-4BC38A4FFC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8143" y="4739199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0" name="図 39">
                <a:extLst>
                  <a:ext uri="{FF2B5EF4-FFF2-40B4-BE49-F238E27FC236}">
                    <a16:creationId xmlns:a16="http://schemas.microsoft.com/office/drawing/2014/main" id="{3B98F9C7-A40B-44ED-8A96-CD88C45D26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600" y="4739199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2" name="図 41">
                <a:extLst>
                  <a:ext uri="{FF2B5EF4-FFF2-40B4-BE49-F238E27FC236}">
                    <a16:creationId xmlns:a16="http://schemas.microsoft.com/office/drawing/2014/main" id="{3ACABA91-F833-4A83-8F07-7823382CD0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67686" y="4739199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4" name="図 43">
                <a:extLst>
                  <a:ext uri="{FF2B5EF4-FFF2-40B4-BE49-F238E27FC236}">
                    <a16:creationId xmlns:a16="http://schemas.microsoft.com/office/drawing/2014/main" id="{1E3B2295-D8A7-4AEE-B6FE-0D97CE6787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87229" y="4739199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6" name="図 45">
                <a:extLst>
                  <a:ext uri="{FF2B5EF4-FFF2-40B4-BE49-F238E27FC236}">
                    <a16:creationId xmlns:a16="http://schemas.microsoft.com/office/drawing/2014/main" id="{2D6B68F6-66A3-470E-A858-7547540FF9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6772" y="4734975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8" name="図 47">
                <a:extLst>
                  <a:ext uri="{FF2B5EF4-FFF2-40B4-BE49-F238E27FC236}">
                    <a16:creationId xmlns:a16="http://schemas.microsoft.com/office/drawing/2014/main" id="{6B100F48-D29B-4004-835E-16CDB40E90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26315" y="4734975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FC05F660-215B-4825-8286-DE48A97C73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45857" y="4734975"/>
                <a:ext cx="1066800" cy="1066800"/>
              </a:xfrm>
              <a:prstGeom prst="rect">
                <a:avLst/>
              </a:prstGeom>
            </p:spPr>
          </p:pic>
        </p:grp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DB541404-89E6-4F34-850E-F552697CA742}"/>
                </a:ext>
              </a:extLst>
            </p:cNvPr>
            <p:cNvGrpSpPr/>
            <p:nvPr/>
          </p:nvGrpSpPr>
          <p:grpSpPr>
            <a:xfrm>
              <a:off x="228600" y="197305"/>
              <a:ext cx="11384057" cy="1100818"/>
              <a:chOff x="228600" y="2422072"/>
              <a:chExt cx="11384057" cy="1100818"/>
            </a:xfrm>
          </p:grpSpPr>
          <p:pic>
            <p:nvPicPr>
              <p:cNvPr id="16" name="図 15">
                <a:extLst>
                  <a:ext uri="{FF2B5EF4-FFF2-40B4-BE49-F238E27FC236}">
                    <a16:creationId xmlns:a16="http://schemas.microsoft.com/office/drawing/2014/main" id="{91911849-F137-4543-8FBF-8EC1079A50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600" y="245609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8771099E-BE3E-4297-B8A1-2EC9654F66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8142" y="245609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21" name="図 20">
                <a:extLst>
                  <a:ext uri="{FF2B5EF4-FFF2-40B4-BE49-F238E27FC236}">
                    <a16:creationId xmlns:a16="http://schemas.microsoft.com/office/drawing/2014/main" id="{939FDF51-5587-4975-B3EA-E84A303A11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87229" y="245609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23" name="図 22">
                <a:extLst>
                  <a:ext uri="{FF2B5EF4-FFF2-40B4-BE49-F238E27FC236}">
                    <a16:creationId xmlns:a16="http://schemas.microsoft.com/office/drawing/2014/main" id="{F16EE03A-8A19-4BE7-9456-360D7EF3EA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67686" y="245609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25" name="図 24">
                <a:extLst>
                  <a:ext uri="{FF2B5EF4-FFF2-40B4-BE49-F238E27FC236}">
                    <a16:creationId xmlns:a16="http://schemas.microsoft.com/office/drawing/2014/main" id="{427ABE23-3FE6-4E44-B130-868CA770ED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6771" y="2422072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28" name="図 27">
                <a:extLst>
                  <a:ext uri="{FF2B5EF4-FFF2-40B4-BE49-F238E27FC236}">
                    <a16:creationId xmlns:a16="http://schemas.microsoft.com/office/drawing/2014/main" id="{3157D22F-7A84-40C7-AF3B-5F05E28FB4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26313" y="245609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30" name="図 29">
                <a:extLst>
                  <a:ext uri="{FF2B5EF4-FFF2-40B4-BE49-F238E27FC236}">
                    <a16:creationId xmlns:a16="http://schemas.microsoft.com/office/drawing/2014/main" id="{3D1D392A-505C-48E3-B99E-64F8693F7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45857" y="2456090"/>
                <a:ext cx="1066800" cy="1066800"/>
              </a:xfrm>
              <a:prstGeom prst="rect">
                <a:avLst/>
              </a:prstGeom>
            </p:spPr>
          </p:pic>
        </p:grpSp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12752802-AEFE-4149-B389-1CC7D376A96C}"/>
                </a:ext>
              </a:extLst>
            </p:cNvPr>
            <p:cNvGrpSpPr/>
            <p:nvPr/>
          </p:nvGrpSpPr>
          <p:grpSpPr>
            <a:xfrm>
              <a:off x="228600" y="2148100"/>
              <a:ext cx="11384055" cy="1071197"/>
              <a:chOff x="228600" y="2838033"/>
              <a:chExt cx="11384055" cy="1071197"/>
            </a:xfrm>
          </p:grpSpPr>
          <p:pic>
            <p:nvPicPr>
              <p:cNvPr id="33" name="図 32">
                <a:extLst>
                  <a:ext uri="{FF2B5EF4-FFF2-40B4-BE49-F238E27FC236}">
                    <a16:creationId xmlns:a16="http://schemas.microsoft.com/office/drawing/2014/main" id="{A6BFE569-C9F9-4E5C-8870-5C53A211DF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600" y="2838033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36" name="図 35">
                <a:extLst>
                  <a:ext uri="{FF2B5EF4-FFF2-40B4-BE49-F238E27FC236}">
                    <a16:creationId xmlns:a16="http://schemas.microsoft.com/office/drawing/2014/main" id="{49E458E9-3EFC-42AE-8DB2-F66D861F52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8142" y="284243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39" name="図 38">
                <a:extLst>
                  <a:ext uri="{FF2B5EF4-FFF2-40B4-BE49-F238E27FC236}">
                    <a16:creationId xmlns:a16="http://schemas.microsoft.com/office/drawing/2014/main" id="{30A1A259-2A30-4FE9-B419-72D168B0BC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67686" y="284243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3" name="図 42">
                <a:extLst>
                  <a:ext uri="{FF2B5EF4-FFF2-40B4-BE49-F238E27FC236}">
                    <a16:creationId xmlns:a16="http://schemas.microsoft.com/office/drawing/2014/main" id="{A7B22B06-A570-4626-8A36-2F34805F1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87229" y="284243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7" name="図 46">
                <a:extLst>
                  <a:ext uri="{FF2B5EF4-FFF2-40B4-BE49-F238E27FC236}">
                    <a16:creationId xmlns:a16="http://schemas.microsoft.com/office/drawing/2014/main" id="{D4355650-7FB5-4E19-AFEB-05D6B743E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6771" y="2838033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50" name="図 49">
                <a:extLst>
                  <a:ext uri="{FF2B5EF4-FFF2-40B4-BE49-F238E27FC236}">
                    <a16:creationId xmlns:a16="http://schemas.microsoft.com/office/drawing/2014/main" id="{B9ADB73F-B730-40E8-B952-CE102FD40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26313" y="2838033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53" name="図 52">
                <a:extLst>
                  <a:ext uri="{FF2B5EF4-FFF2-40B4-BE49-F238E27FC236}">
                    <a16:creationId xmlns:a16="http://schemas.microsoft.com/office/drawing/2014/main" id="{9E0F92C6-85DA-48D7-A22B-A1278B940E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45855" y="2838033"/>
                <a:ext cx="1066800" cy="1066800"/>
              </a:xfrm>
              <a:prstGeom prst="rect">
                <a:avLst/>
              </a:prstGeom>
            </p:spPr>
          </p:pic>
        </p:grp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E483FD63-FCE6-41AA-8B0F-5D7DC7FDF34E}"/>
                </a:ext>
              </a:extLst>
            </p:cNvPr>
            <p:cNvSpPr txBox="1"/>
            <p:nvPr/>
          </p:nvSpPr>
          <p:spPr>
            <a:xfrm>
              <a:off x="4844052" y="1539863"/>
              <a:ext cx="21531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latin typeface="Arial" panose="020B0604020202020204" pitchFamily="34" charset="0"/>
                  <a:cs typeface="Arial" panose="020B0604020202020204" pitchFamily="34" charset="0"/>
                </a:rPr>
                <a:t>Easy Example</a:t>
              </a:r>
              <a:endParaRPr kumimoji="1" lang="ja-JP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DCC53A14-CB81-4E53-8A5D-068BD73907F9}"/>
                </a:ext>
              </a:extLst>
            </p:cNvPr>
            <p:cNvSpPr txBox="1"/>
            <p:nvPr/>
          </p:nvSpPr>
          <p:spPr>
            <a:xfrm>
              <a:off x="4813437" y="3464558"/>
              <a:ext cx="25651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latin typeface="Arial" panose="020B0604020202020204" pitchFamily="34" charset="0"/>
                  <a:cs typeface="Arial" panose="020B0604020202020204" pitchFamily="34" charset="0"/>
                </a:rPr>
                <a:t>Medium Example</a:t>
              </a:r>
              <a:endParaRPr kumimoji="1" lang="ja-JP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210DBCC2-9284-4CDC-9058-C3E06481F1BB}"/>
                </a:ext>
              </a:extLst>
            </p:cNvPr>
            <p:cNvSpPr txBox="1"/>
            <p:nvPr/>
          </p:nvSpPr>
          <p:spPr>
            <a:xfrm>
              <a:off x="4859507" y="5389253"/>
              <a:ext cx="21371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>
                  <a:latin typeface="Arial" panose="020B0604020202020204" pitchFamily="34" charset="0"/>
                  <a:cs typeface="Arial" panose="020B0604020202020204" pitchFamily="34" charset="0"/>
                </a:rPr>
                <a:t>Hard </a:t>
              </a:r>
              <a:r>
                <a:rPr lang="en-US" altLang="ja-JP" sz="2400" dirty="0">
                  <a:latin typeface="Arial" panose="020B0604020202020204" pitchFamily="34" charset="0"/>
                  <a:cs typeface="Arial" panose="020B0604020202020204" pitchFamily="34" charset="0"/>
                </a:rPr>
                <a:t>Example</a:t>
              </a:r>
              <a:endParaRPr kumimoji="1" lang="ja-JP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7565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32</Words>
  <Application>Microsoft Office PowerPoint</Application>
  <PresentationFormat>ワイド画面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廣池　友哉</dc:creator>
  <cp:lastModifiedBy>廣池　友哉</cp:lastModifiedBy>
  <cp:revision>11</cp:revision>
  <dcterms:created xsi:type="dcterms:W3CDTF">2026-01-22T06:02:05Z</dcterms:created>
  <dcterms:modified xsi:type="dcterms:W3CDTF">2026-01-27T03:23:54Z</dcterms:modified>
</cp:coreProperties>
</file>