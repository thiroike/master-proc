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B0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E90CD2-CE08-D4DE-61EE-CBB0FB185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90206C-9BEA-6D39-1937-47AFE7F8D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C44B5-3CA2-2236-D36A-8AA0CA979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72C984-A714-F186-2D1E-968F26C0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AB29F9-CCC8-75B7-8C90-2D65CDFC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8479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F00F81-3AB4-4407-B62E-2DF214C09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688577-72F5-1701-8830-492BE692E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9DFFEB-1074-9F0D-F093-2C7D418CB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1583D6-2E92-08D5-014A-7F7A81A6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7C52D4-714D-7669-4000-A2B12CF4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213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EC70A9-BD6D-2F9E-6D86-05C3BCD1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52391C-E1A6-27C6-009D-A5C531DB3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F20C57-35D0-84E4-9EC1-5FE882E86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563252-558A-4A36-C5F0-CF07AA8E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ED4CFF-9D7C-8178-24BE-E9E982F4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766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30D9B-DC16-C182-CA14-BBC687480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75D382-CC42-87E8-ECC9-391976CB8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EC1761B-A799-4CA3-2F11-6A9208FDE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465D83-81B1-3B46-61D2-26A8B698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1822D6-14AB-43C1-D247-AC88506F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557E34-165F-86DC-71A5-A2CFDEB9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335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A3AF15-399D-6BB1-A76B-6ABC65A4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34DDDF-1CAF-A567-5D02-5D92F54A6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91C723-311C-AA17-A3DB-B743311F0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52EB26-A456-49C7-79D3-FC45D499FB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7CAB8F8-558C-8FC2-8175-8457865C7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015DA15-F800-A2FF-8E36-BF9E6CF3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8A0155C-4705-0094-25A3-7A3DC716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E265985-A450-94D1-2068-E757E30D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252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10528-59C9-485A-9385-549191AE6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00ED5E-9DD8-352C-1513-526C1985F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47D655-30DF-7708-E825-75CAF0E8A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183086B-5299-A270-8801-B1232F63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2415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D026642-57D5-0753-C0EA-AE053187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96D47C1-1A86-8D07-9DF9-1BBC37F19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E60CDF-F764-17B4-2951-98C85AC4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94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650FBD-0873-B219-2B3F-C31A75658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2C1043-1874-41A4-F8D3-94F742213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A0A9446-4AB4-47D0-14F6-80454E16E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C4ACC7-0415-3BF2-2185-FC18996C0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9FD86C-8C35-F9CC-5DD8-2BEC2F8CF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B8D197-35DE-A993-5668-D486577D9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9061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DAA488-2879-7BD0-6397-274216EDB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C8F106E-72A1-B1DD-42D1-3D43CB934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7DB06F-1D52-F867-F8A7-01515CDB1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E3CC1B-7844-E5ED-870E-0B025B106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7CD6CB-8F08-DB0C-942F-46C966B8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53C0FD-1B1A-1BE8-FE02-75922EA1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953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4AED78-2ED5-87B0-756B-9ADA11B16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CC08DF-CCD4-9F57-22DD-B913859C5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985E97-915A-96C2-6047-90676402D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97928-F689-46CA-6A22-58B7A216C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195790-1980-5BBB-0413-599A29ECF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654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D8B503F-E6B9-1838-E9A7-865903359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635636-5F60-FCB0-C0F8-F3C6C4901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976D8C-DE78-4BA6-363D-ABF26A42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B2076F-314D-7469-6D34-4B4F5145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95DCFC-B5A7-8E78-CC50-2C347357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59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0E48EA4-F0F3-DFFB-0565-BEBEFA094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6D1441-4CDB-6E8E-ED01-E1B00AF45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CD668F-B5CA-76B3-FDA0-E82744D78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6DEA0-22E4-4D52-B01E-C7A2D2E07EB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38481E-61FF-34AB-23F7-55337539C2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A15678-A26F-863F-971B-47F1E9862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051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30F4B-1805-8B7C-33E2-6738F67D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FD7980E6-FA88-8B8E-7206-A45FFD834692}"/>
              </a:ext>
            </a:extLst>
          </p:cNvPr>
          <p:cNvCxnSpPr>
            <a:cxnSpLocks/>
          </p:cNvCxnSpPr>
          <p:nvPr/>
        </p:nvCxnSpPr>
        <p:spPr>
          <a:xfrm>
            <a:off x="1662287" y="4089965"/>
            <a:ext cx="97690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E9CA9A52-DB63-B265-DF21-BADFFFB7F9E1}"/>
              </a:ext>
            </a:extLst>
          </p:cNvPr>
          <p:cNvCxnSpPr>
            <a:cxnSpLocks/>
          </p:cNvCxnSpPr>
          <p:nvPr/>
        </p:nvCxnSpPr>
        <p:spPr>
          <a:xfrm>
            <a:off x="1299328" y="2446880"/>
            <a:ext cx="0" cy="115357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98C6AD48-9093-9970-3BE4-40BF4981A534}"/>
              </a:ext>
            </a:extLst>
          </p:cNvPr>
          <p:cNvCxnSpPr>
            <a:cxnSpLocks/>
          </p:cNvCxnSpPr>
          <p:nvPr/>
        </p:nvCxnSpPr>
        <p:spPr>
          <a:xfrm>
            <a:off x="4142284" y="1467005"/>
            <a:ext cx="72373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8D69B48C-B394-CC99-7427-267A590ECD7F}"/>
              </a:ext>
            </a:extLst>
          </p:cNvPr>
          <p:cNvCxnSpPr>
            <a:cxnSpLocks/>
          </p:cNvCxnSpPr>
          <p:nvPr/>
        </p:nvCxnSpPr>
        <p:spPr>
          <a:xfrm>
            <a:off x="1662287" y="1467005"/>
            <a:ext cx="97690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図 4" descr="屋内, 座る, テーブル, ボウ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10A3EB1-82FC-DEDA-658D-8CC6076AE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84" y="908060"/>
            <a:ext cx="1066800" cy="1066800"/>
          </a:xfrm>
          <a:prstGeom prst="rect">
            <a:avLst/>
          </a:prstGeom>
        </p:spPr>
      </p:pic>
      <p:pic>
        <p:nvPicPr>
          <p:cNvPr id="7" name="図 6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96DE8FA-EECA-8B4D-4876-6BA0C6B1D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739" y="960038"/>
            <a:ext cx="1066800" cy="1066800"/>
          </a:xfrm>
          <a:prstGeom prst="rect">
            <a:avLst/>
          </a:prstGeom>
        </p:spPr>
      </p:pic>
      <p:pic>
        <p:nvPicPr>
          <p:cNvPr id="9" name="図 8" descr="ぼやけた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60584BEA-4633-7683-C532-CAE5064159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262" y="2780213"/>
            <a:ext cx="1066800" cy="1066800"/>
          </a:xfrm>
          <a:prstGeom prst="rect">
            <a:avLst/>
          </a:prstGeom>
        </p:spPr>
      </p:pic>
      <p:pic>
        <p:nvPicPr>
          <p:cNvPr id="11" name="図 10" descr="ぼやけた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B9BC7F57-DE2B-0F63-8B66-F4E4F84AAC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035" y="4380674"/>
            <a:ext cx="1066800" cy="1066800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29A872F-A5F4-7001-EEEC-9EE8BFC0EAE5}"/>
              </a:ext>
            </a:extLst>
          </p:cNvPr>
          <p:cNvSpPr txBox="1"/>
          <p:nvPr/>
        </p:nvSpPr>
        <p:spPr>
          <a:xfrm>
            <a:off x="4022535" y="5945137"/>
            <a:ext cx="2854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Multiple </a:t>
            </a:r>
            <a:r>
              <a:rPr kumimoji="0" lang="en-US" altLang="ja-JP" sz="2400" dirty="0">
                <a:latin typeface="Arial Unicode MS"/>
              </a:rPr>
              <a:t>predictions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 MC Dropout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6" name="右中かっこ 25">
            <a:extLst>
              <a:ext uri="{FF2B5EF4-FFF2-40B4-BE49-F238E27FC236}">
                <a16:creationId xmlns:a16="http://schemas.microsoft.com/office/drawing/2014/main" id="{89E4051C-5C55-B34C-4807-3CB565337E7C}"/>
              </a:ext>
            </a:extLst>
          </p:cNvPr>
          <p:cNvSpPr>
            <a:spLocks noChangeAspect="1"/>
          </p:cNvSpPr>
          <p:nvPr/>
        </p:nvSpPr>
        <p:spPr>
          <a:xfrm>
            <a:off x="6120000" y="2772000"/>
            <a:ext cx="226083" cy="2672248"/>
          </a:xfrm>
          <a:prstGeom prst="rightBrace">
            <a:avLst>
              <a:gd name="adj1" fmla="val 8333"/>
              <a:gd name="adj2" fmla="val 54966"/>
            </a:avLst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14B6CF-2A64-4670-3215-C991E81D401A}"/>
              </a:ext>
            </a:extLst>
          </p:cNvPr>
          <p:cNvCxnSpPr>
            <a:cxnSpLocks/>
          </p:cNvCxnSpPr>
          <p:nvPr/>
        </p:nvCxnSpPr>
        <p:spPr>
          <a:xfrm flipV="1">
            <a:off x="4462128" y="3326636"/>
            <a:ext cx="454134" cy="45042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10ADBA24-A3F6-0DE0-BEA2-288DF8EFB532}"/>
              </a:ext>
            </a:extLst>
          </p:cNvPr>
          <p:cNvCxnSpPr>
            <a:cxnSpLocks/>
          </p:cNvCxnSpPr>
          <p:nvPr/>
        </p:nvCxnSpPr>
        <p:spPr>
          <a:xfrm>
            <a:off x="4171982" y="4146738"/>
            <a:ext cx="490162" cy="54846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BEA826B-A822-D13D-7BB7-67CE9EB5D548}"/>
              </a:ext>
            </a:extLst>
          </p:cNvPr>
          <p:cNvSpPr txBox="1"/>
          <p:nvPr/>
        </p:nvSpPr>
        <p:spPr>
          <a:xfrm rot="16200000">
            <a:off x="4583492" y="3994854"/>
            <a:ext cx="1066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・・・</a:t>
            </a:r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AECD55FC-7FB1-60DF-AC81-454F035F8E5C}"/>
              </a:ext>
            </a:extLst>
          </p:cNvPr>
          <p:cNvCxnSpPr>
            <a:cxnSpLocks/>
          </p:cNvCxnSpPr>
          <p:nvPr/>
        </p:nvCxnSpPr>
        <p:spPr>
          <a:xfrm>
            <a:off x="6620955" y="5684068"/>
            <a:ext cx="73508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図 1" descr="屋内, 座る, テーブル, ボウ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09A994C-FE73-1C6C-14AE-3A390246D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28" y="3584705"/>
            <a:ext cx="1066800" cy="1066800"/>
          </a:xfrm>
          <a:prstGeom prst="rect">
            <a:avLst/>
          </a:prstGeom>
        </p:spPr>
      </p:pic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7742B145-C7A3-5B93-219C-9B325E40D09A}"/>
              </a:ext>
            </a:extLst>
          </p:cNvPr>
          <p:cNvCxnSpPr>
            <a:cxnSpLocks/>
          </p:cNvCxnSpPr>
          <p:nvPr/>
        </p:nvCxnSpPr>
        <p:spPr>
          <a:xfrm flipV="1">
            <a:off x="8372966" y="1690924"/>
            <a:ext cx="0" cy="359946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52E9E7F-5E98-EBDB-942C-ED8144F2878C}"/>
              </a:ext>
            </a:extLst>
          </p:cNvPr>
          <p:cNvSpPr txBox="1"/>
          <p:nvPr/>
        </p:nvSpPr>
        <p:spPr>
          <a:xfrm>
            <a:off x="7293196" y="5280193"/>
            <a:ext cx="2155454" cy="83099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Uncertainty </a:t>
            </a:r>
          </a:p>
          <a:p>
            <a:pPr algn="ctr"/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57CA42B-04AD-2AF8-7365-7CE038418EC7}"/>
              </a:ext>
            </a:extLst>
          </p:cNvPr>
          <p:cNvSpPr txBox="1"/>
          <p:nvPr/>
        </p:nvSpPr>
        <p:spPr>
          <a:xfrm>
            <a:off x="6840000" y="4032000"/>
            <a:ext cx="3144539" cy="46166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Difficulty Metric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BEC67F9-2F26-0C3E-17EE-B05EEB38B8E1}"/>
              </a:ext>
            </a:extLst>
          </p:cNvPr>
          <p:cNvSpPr/>
          <p:nvPr/>
        </p:nvSpPr>
        <p:spPr>
          <a:xfrm>
            <a:off x="212439" y="2550638"/>
            <a:ext cx="11767125" cy="425691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3447B92-965C-C58C-AF4F-DE81E301BDB1}"/>
              </a:ext>
            </a:extLst>
          </p:cNvPr>
          <p:cNvGrpSpPr/>
          <p:nvPr/>
        </p:nvGrpSpPr>
        <p:grpSpPr>
          <a:xfrm>
            <a:off x="2625858" y="911669"/>
            <a:ext cx="1494135" cy="1060935"/>
            <a:chOff x="9097528" y="1355284"/>
            <a:chExt cx="1643861" cy="1167251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32E9897A-32E7-7330-247D-47DBF126E7F1}"/>
                </a:ext>
              </a:extLst>
            </p:cNvPr>
            <p:cNvSpPr/>
            <p:nvPr/>
          </p:nvSpPr>
          <p:spPr>
            <a:xfrm>
              <a:off x="9097528" y="1355284"/>
              <a:ext cx="1643861" cy="116725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F824D10B-D747-B510-DB42-3B87F4DFDC17}"/>
                </a:ext>
              </a:extLst>
            </p:cNvPr>
            <p:cNvSpPr/>
            <p:nvPr/>
          </p:nvSpPr>
          <p:spPr>
            <a:xfrm>
              <a:off x="9257125" y="1476428"/>
              <a:ext cx="224506" cy="941145"/>
            </a:xfrm>
            <a:prstGeom prst="cube">
              <a:avLst>
                <a:gd name="adj" fmla="val 8711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直方体 27">
              <a:extLst>
                <a:ext uri="{FF2B5EF4-FFF2-40B4-BE49-F238E27FC236}">
                  <a16:creationId xmlns:a16="http://schemas.microsoft.com/office/drawing/2014/main" id="{C1CBECE3-DA00-AE09-C4AC-51BE28D8666F}"/>
                </a:ext>
              </a:extLst>
            </p:cNvPr>
            <p:cNvSpPr/>
            <p:nvPr/>
          </p:nvSpPr>
          <p:spPr>
            <a:xfrm>
              <a:off x="9537489" y="1849556"/>
              <a:ext cx="201785" cy="568017"/>
            </a:xfrm>
            <a:prstGeom prst="cube">
              <a:avLst>
                <a:gd name="adj" fmla="val 61044"/>
              </a:avLst>
            </a:prstGeom>
            <a:pattFill prst="wdDnDiag">
              <a:fgClr>
                <a:srgbClr val="F4B183"/>
              </a:fgClr>
              <a:bgClr>
                <a:schemeClr val="bg1"/>
              </a:bgClr>
            </a:patt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直方体 29">
              <a:extLst>
                <a:ext uri="{FF2B5EF4-FFF2-40B4-BE49-F238E27FC236}">
                  <a16:creationId xmlns:a16="http://schemas.microsoft.com/office/drawing/2014/main" id="{2149A610-F368-8E5D-4290-DB412A335DA0}"/>
                </a:ext>
              </a:extLst>
            </p:cNvPr>
            <p:cNvSpPr/>
            <p:nvPr/>
          </p:nvSpPr>
          <p:spPr>
            <a:xfrm>
              <a:off x="10117374" y="1858218"/>
              <a:ext cx="201785" cy="568017"/>
            </a:xfrm>
            <a:prstGeom prst="cube">
              <a:avLst>
                <a:gd name="adj" fmla="val 61044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直方体 32">
              <a:extLst>
                <a:ext uri="{FF2B5EF4-FFF2-40B4-BE49-F238E27FC236}">
                  <a16:creationId xmlns:a16="http://schemas.microsoft.com/office/drawing/2014/main" id="{4B2D20FC-D7B3-1E74-E868-5E21335BC496}"/>
                </a:ext>
              </a:extLst>
            </p:cNvPr>
            <p:cNvSpPr/>
            <p:nvPr/>
          </p:nvSpPr>
          <p:spPr>
            <a:xfrm>
              <a:off x="10375017" y="1485090"/>
              <a:ext cx="224506" cy="941145"/>
            </a:xfrm>
            <a:prstGeom prst="cube">
              <a:avLst>
                <a:gd name="adj" fmla="val 8711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直方体 36">
              <a:extLst>
                <a:ext uri="{FF2B5EF4-FFF2-40B4-BE49-F238E27FC236}">
                  <a16:creationId xmlns:a16="http://schemas.microsoft.com/office/drawing/2014/main" id="{734C61CD-C19E-AA95-343A-04BDA8E1361F}"/>
                </a:ext>
              </a:extLst>
            </p:cNvPr>
            <p:cNvSpPr/>
            <p:nvPr/>
          </p:nvSpPr>
          <p:spPr>
            <a:xfrm>
              <a:off x="9795132" y="2275350"/>
              <a:ext cx="105263" cy="147577"/>
            </a:xfrm>
            <a:prstGeom prst="cube">
              <a:avLst>
                <a:gd name="adj" fmla="val 29431"/>
              </a:avLst>
            </a:prstGeom>
            <a:solidFill>
              <a:srgbClr val="F7A1A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直方体 37">
              <a:extLst>
                <a:ext uri="{FF2B5EF4-FFF2-40B4-BE49-F238E27FC236}">
                  <a16:creationId xmlns:a16="http://schemas.microsoft.com/office/drawing/2014/main" id="{0BE0D47A-65BC-7DF3-85EA-6FDB2A6B7C19}"/>
                </a:ext>
              </a:extLst>
            </p:cNvPr>
            <p:cNvSpPr/>
            <p:nvPr/>
          </p:nvSpPr>
          <p:spPr>
            <a:xfrm>
              <a:off x="9956253" y="2276188"/>
              <a:ext cx="105263" cy="147577"/>
            </a:xfrm>
            <a:prstGeom prst="cube">
              <a:avLst>
                <a:gd name="adj" fmla="val 29431"/>
              </a:avLst>
            </a:prstGeom>
            <a:solidFill>
              <a:srgbClr val="F7A1A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823782E8-D8AA-3E9E-EF5C-5D057906C3D3}"/>
                  </a:ext>
                </a:extLst>
              </p:cNvPr>
              <p:cNvSpPr txBox="1"/>
              <p:nvPr/>
            </p:nvSpPr>
            <p:spPr>
              <a:xfrm>
                <a:off x="6543863" y="1925369"/>
                <a:ext cx="1858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 Unicode MS"/>
                  </a:rPr>
                  <a:t>Adaptive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823782E8-D8AA-3E9E-EF5C-5D057906C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863" y="1925369"/>
                <a:ext cx="1858458" cy="461665"/>
              </a:xfrm>
              <a:prstGeom prst="rect">
                <a:avLst/>
              </a:prstGeom>
              <a:blipFill>
                <a:blip r:embed="rId6"/>
                <a:stretch>
                  <a:fillRect l="-4918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フローチャート: 端子 53">
            <a:extLst>
              <a:ext uri="{FF2B5EF4-FFF2-40B4-BE49-F238E27FC236}">
                <a16:creationId xmlns:a16="http://schemas.microsoft.com/office/drawing/2014/main" id="{5C9F8983-B3E4-F1C6-9E7D-018A2B65CA57}"/>
              </a:ext>
            </a:extLst>
          </p:cNvPr>
          <p:cNvSpPr/>
          <p:nvPr/>
        </p:nvSpPr>
        <p:spPr>
          <a:xfrm>
            <a:off x="6840000" y="2722294"/>
            <a:ext cx="3144535" cy="703605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Control Function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A33BEFCA-BC6D-6A45-0AA7-53B066A6E26A}"/>
                  </a:ext>
                </a:extLst>
              </p:cNvPr>
              <p:cNvSpPr txBox="1"/>
              <p:nvPr/>
            </p:nvSpPr>
            <p:spPr>
              <a:xfrm>
                <a:off x="270429" y="4651505"/>
                <a:ext cx="22679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dirty="0">
                    <a:latin typeface="Arial Unicode MS"/>
                  </a:rPr>
                  <a:t>Input Image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ja-JP" sz="24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kumimoji="0" lang="en-US" altLang="ja-JP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dirty="0"/>
              </a:p>
            </p:txBody>
          </p:sp>
        </mc:Choice>
        <mc:Fallback xmlns=""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A33BEFCA-BC6D-6A45-0AA7-53B066A6E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29" y="4651505"/>
                <a:ext cx="2267945" cy="461665"/>
              </a:xfrm>
              <a:prstGeom prst="rect">
                <a:avLst/>
              </a:prstGeom>
              <a:blipFill>
                <a:blip r:embed="rId7"/>
                <a:stretch>
                  <a:fillRect l="-4032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4A47FA3A-F822-7B70-A420-622E549E02E4}"/>
                  </a:ext>
                </a:extLst>
              </p:cNvPr>
              <p:cNvSpPr txBox="1"/>
              <p:nvPr/>
            </p:nvSpPr>
            <p:spPr>
              <a:xfrm>
                <a:off x="224713" y="1971282"/>
                <a:ext cx="26540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/>
                  </a:rPr>
                  <a:t>Input Image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ja-JP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4A47FA3A-F822-7B70-A420-622E549E0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13" y="1971282"/>
                <a:ext cx="2654071" cy="461665"/>
              </a:xfrm>
              <a:prstGeom prst="rect">
                <a:avLst/>
              </a:prstGeom>
              <a:blipFill>
                <a:blip r:embed="rId8"/>
                <a:stretch>
                  <a:fillRect l="-3678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3D7765F3-1FA7-61BF-0C44-C9D76D773D4D}"/>
                  </a:ext>
                </a:extLst>
              </p:cNvPr>
              <p:cNvSpPr txBox="1"/>
              <p:nvPr/>
            </p:nvSpPr>
            <p:spPr>
              <a:xfrm>
                <a:off x="4371566" y="2018706"/>
                <a:ext cx="2043145" cy="471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/>
                  </a:rPr>
                  <a:t>Prediction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0" lang="en-US" altLang="ja-JP" sz="24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US" altLang="ja-JP" sz="2400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kumimoji="0" lang="en-US" altLang="ja-JP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3D7765F3-1FA7-61BF-0C44-C9D76D773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566" y="2018706"/>
                <a:ext cx="2043145" cy="471539"/>
              </a:xfrm>
              <a:prstGeom prst="rect">
                <a:avLst/>
              </a:prstGeom>
              <a:blipFill>
                <a:blip r:embed="rId9"/>
                <a:stretch>
                  <a:fillRect l="-4478" t="-10256" r="-13433" b="-256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1D3FBB75-E4E5-3C68-046D-E60C86E98F04}"/>
              </a:ext>
            </a:extLst>
          </p:cNvPr>
          <p:cNvSpPr txBox="1"/>
          <p:nvPr/>
        </p:nvSpPr>
        <p:spPr>
          <a:xfrm>
            <a:off x="7340157" y="859927"/>
            <a:ext cx="2130670" cy="8309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PolyDice-1</a:t>
            </a:r>
          </a:p>
          <a:p>
            <a:pPr algn="ctr"/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矢印: 右 76">
            <a:extLst>
              <a:ext uri="{FF2B5EF4-FFF2-40B4-BE49-F238E27FC236}">
                <a16:creationId xmlns:a16="http://schemas.microsoft.com/office/drawing/2014/main" id="{E5D2150A-C795-EBAE-1267-4FFA5944E93E}"/>
              </a:ext>
            </a:extLst>
          </p:cNvPr>
          <p:cNvSpPr/>
          <p:nvPr/>
        </p:nvSpPr>
        <p:spPr>
          <a:xfrm rot="10800000">
            <a:off x="9470826" y="1053541"/>
            <a:ext cx="601540" cy="62632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9" name="図 78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53BED8B4-B2DC-99CF-7E78-7ABCA8E889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2366" y="842850"/>
            <a:ext cx="1066800" cy="1066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2D32408A-9A69-48EF-9E56-90E31F457239}"/>
                  </a:ext>
                </a:extLst>
              </p:cNvPr>
              <p:cNvSpPr txBox="1"/>
              <p:nvPr/>
            </p:nvSpPr>
            <p:spPr>
              <a:xfrm>
                <a:off x="9558527" y="1985216"/>
                <a:ext cx="24567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/>
                  </a:rPr>
                  <a:t>Ground Truth</a:t>
                </a:r>
                <a:r>
                  <a:rPr kumimoji="0" lang="en-US" altLang="ja-JP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ja-JP" sz="24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kumimoji="0" lang="en-US" altLang="ja-JP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2D32408A-9A69-48EF-9E56-90E31F457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8527" y="1985216"/>
                <a:ext cx="2456783" cy="461665"/>
              </a:xfrm>
              <a:prstGeom prst="rect">
                <a:avLst/>
              </a:prstGeom>
              <a:blipFill>
                <a:blip r:embed="rId11"/>
                <a:stretch>
                  <a:fillRect l="-3722" t="-12000" b="-29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矢印: 右 81">
            <a:extLst>
              <a:ext uri="{FF2B5EF4-FFF2-40B4-BE49-F238E27FC236}">
                <a16:creationId xmlns:a16="http://schemas.microsoft.com/office/drawing/2014/main" id="{3ADFBFEA-0829-94A8-4F6B-F5010DB0754A}"/>
              </a:ext>
            </a:extLst>
          </p:cNvPr>
          <p:cNvSpPr/>
          <p:nvPr/>
        </p:nvSpPr>
        <p:spPr>
          <a:xfrm rot="10800000" flipH="1">
            <a:off x="5926539" y="1030304"/>
            <a:ext cx="1388833" cy="62632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B775385-09E2-EF81-5658-877E63621533}"/>
              </a:ext>
            </a:extLst>
          </p:cNvPr>
          <p:cNvSpPr txBox="1"/>
          <p:nvPr/>
        </p:nvSpPr>
        <p:spPr>
          <a:xfrm>
            <a:off x="3200602" y="70202"/>
            <a:ext cx="5172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Update weights via backprop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90" name="直線矢印コネクタ 89">
            <a:extLst>
              <a:ext uri="{FF2B5EF4-FFF2-40B4-BE49-F238E27FC236}">
                <a16:creationId xmlns:a16="http://schemas.microsoft.com/office/drawing/2014/main" id="{A4098CA6-53F5-0B17-7E11-D03844BFB6E2}"/>
              </a:ext>
            </a:extLst>
          </p:cNvPr>
          <p:cNvCxnSpPr>
            <a:cxnSpLocks/>
          </p:cNvCxnSpPr>
          <p:nvPr/>
        </p:nvCxnSpPr>
        <p:spPr>
          <a:xfrm>
            <a:off x="3351914" y="538843"/>
            <a:ext cx="0" cy="36921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25564A6A-8E2A-BDFA-1FC0-C76B696AB227}"/>
              </a:ext>
            </a:extLst>
          </p:cNvPr>
          <p:cNvCxnSpPr>
            <a:cxnSpLocks/>
          </p:cNvCxnSpPr>
          <p:nvPr/>
        </p:nvCxnSpPr>
        <p:spPr>
          <a:xfrm>
            <a:off x="3350716" y="538843"/>
            <a:ext cx="453416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8AF06DD9-95DF-046C-CDEC-448457C1FE3A}"/>
              </a:ext>
            </a:extLst>
          </p:cNvPr>
          <p:cNvCxnSpPr>
            <a:cxnSpLocks/>
          </p:cNvCxnSpPr>
          <p:nvPr/>
        </p:nvCxnSpPr>
        <p:spPr>
          <a:xfrm flipV="1">
            <a:off x="7844178" y="538843"/>
            <a:ext cx="0" cy="32108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04FC5E26-3145-88C4-6F7B-144E08755836}"/>
              </a:ext>
            </a:extLst>
          </p:cNvPr>
          <p:cNvSpPr txBox="1"/>
          <p:nvPr/>
        </p:nvSpPr>
        <p:spPr>
          <a:xfrm>
            <a:off x="2280186" y="4638050"/>
            <a:ext cx="2421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テキスト ボックス 113">
                <a:extLst>
                  <a:ext uri="{FF2B5EF4-FFF2-40B4-BE49-F238E27FC236}">
                    <a16:creationId xmlns:a16="http://schemas.microsoft.com/office/drawing/2014/main" id="{041FABE8-43F9-B5BD-6965-B4E7B104F793}"/>
                  </a:ext>
                </a:extLst>
              </p:cNvPr>
              <p:cNvSpPr txBox="1"/>
              <p:nvPr/>
            </p:nvSpPr>
            <p:spPr>
              <a:xfrm>
                <a:off x="246037" y="5846852"/>
                <a:ext cx="36483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 Unicode MS"/>
                  </a:rPr>
                  <a:t>Adaptive Control phase</a:t>
                </a:r>
              </a:p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 Unicode MS"/>
                  </a:rPr>
                  <a:t>(Every </a:t>
                </a:r>
                <a14:m>
                  <m:oMath xmlns:m="http://schemas.openxmlformats.org/officeDocument/2006/math">
                    <m:r>
                      <a:rPr kumimoji="0" lang="en-US" altLang="ja-JP" sz="24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kumimoji="0" lang="en-US" altLang="ja-JP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 </a:t>
                </a:r>
                <a:r>
                  <a:rPr kumimoji="0" lang="en-US" altLang="ja-JP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epoch)</a:t>
                </a:r>
                <a:endParaRPr kumimoji="0" lang="ja-JP" altLang="ja-JP" sz="24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4" name="テキスト ボックス 113">
                <a:extLst>
                  <a:ext uri="{FF2B5EF4-FFF2-40B4-BE49-F238E27FC236}">
                    <a16:creationId xmlns:a16="http://schemas.microsoft.com/office/drawing/2014/main" id="{041FABE8-43F9-B5BD-6965-B4E7B104F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37" y="5846852"/>
                <a:ext cx="3648328" cy="830997"/>
              </a:xfrm>
              <a:prstGeom prst="rect">
                <a:avLst/>
              </a:prstGeom>
              <a:blipFill>
                <a:blip r:embed="rId12"/>
                <a:stretch>
                  <a:fillRect l="-2504" t="-5147" r="-1336" b="-154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" name="グループ化 119">
            <a:extLst>
              <a:ext uri="{FF2B5EF4-FFF2-40B4-BE49-F238E27FC236}">
                <a16:creationId xmlns:a16="http://schemas.microsoft.com/office/drawing/2014/main" id="{F1CFB424-EF78-B217-2A0C-CB7EE7EEE453}"/>
              </a:ext>
            </a:extLst>
          </p:cNvPr>
          <p:cNvGrpSpPr/>
          <p:nvPr/>
        </p:nvGrpSpPr>
        <p:grpSpPr>
          <a:xfrm>
            <a:off x="2620976" y="3584705"/>
            <a:ext cx="1494135" cy="1060935"/>
            <a:chOff x="9097528" y="1355284"/>
            <a:chExt cx="1643861" cy="1167251"/>
          </a:xfrm>
        </p:grpSpPr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8BA0F921-1C5B-60C8-E475-A7A988610380}"/>
                </a:ext>
              </a:extLst>
            </p:cNvPr>
            <p:cNvSpPr/>
            <p:nvPr/>
          </p:nvSpPr>
          <p:spPr>
            <a:xfrm>
              <a:off x="9097528" y="1355284"/>
              <a:ext cx="1643861" cy="116725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22" name="直方体 121">
              <a:extLst>
                <a:ext uri="{FF2B5EF4-FFF2-40B4-BE49-F238E27FC236}">
                  <a16:creationId xmlns:a16="http://schemas.microsoft.com/office/drawing/2014/main" id="{94042F46-FB76-9095-B0E0-5632D0ED31D7}"/>
                </a:ext>
              </a:extLst>
            </p:cNvPr>
            <p:cNvSpPr/>
            <p:nvPr/>
          </p:nvSpPr>
          <p:spPr>
            <a:xfrm>
              <a:off x="9257125" y="1476428"/>
              <a:ext cx="224506" cy="941145"/>
            </a:xfrm>
            <a:prstGeom prst="cube">
              <a:avLst>
                <a:gd name="adj" fmla="val 8711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3" name="直方体 122">
              <a:extLst>
                <a:ext uri="{FF2B5EF4-FFF2-40B4-BE49-F238E27FC236}">
                  <a16:creationId xmlns:a16="http://schemas.microsoft.com/office/drawing/2014/main" id="{C2D110D2-1EA7-B717-A5E8-04953E1EF067}"/>
                </a:ext>
              </a:extLst>
            </p:cNvPr>
            <p:cNvSpPr/>
            <p:nvPr/>
          </p:nvSpPr>
          <p:spPr>
            <a:xfrm>
              <a:off x="9537489" y="1849556"/>
              <a:ext cx="201785" cy="568017"/>
            </a:xfrm>
            <a:prstGeom prst="cube">
              <a:avLst>
                <a:gd name="adj" fmla="val 61044"/>
              </a:avLst>
            </a:prstGeom>
            <a:pattFill prst="wdDnDiag">
              <a:fgClr>
                <a:srgbClr val="F4B183"/>
              </a:fgClr>
              <a:bgClr>
                <a:schemeClr val="bg1"/>
              </a:bgClr>
            </a:patt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4" name="直方体 123">
              <a:extLst>
                <a:ext uri="{FF2B5EF4-FFF2-40B4-BE49-F238E27FC236}">
                  <a16:creationId xmlns:a16="http://schemas.microsoft.com/office/drawing/2014/main" id="{AD644F83-6AFC-B720-81CF-2D84CAD50785}"/>
                </a:ext>
              </a:extLst>
            </p:cNvPr>
            <p:cNvSpPr/>
            <p:nvPr/>
          </p:nvSpPr>
          <p:spPr>
            <a:xfrm>
              <a:off x="10117374" y="1858218"/>
              <a:ext cx="201785" cy="568017"/>
            </a:xfrm>
            <a:prstGeom prst="cube">
              <a:avLst>
                <a:gd name="adj" fmla="val 61044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5" name="直方体 124">
              <a:extLst>
                <a:ext uri="{FF2B5EF4-FFF2-40B4-BE49-F238E27FC236}">
                  <a16:creationId xmlns:a16="http://schemas.microsoft.com/office/drawing/2014/main" id="{12104AE8-ECEE-77CC-8F70-4416A8FD4432}"/>
                </a:ext>
              </a:extLst>
            </p:cNvPr>
            <p:cNvSpPr/>
            <p:nvPr/>
          </p:nvSpPr>
          <p:spPr>
            <a:xfrm>
              <a:off x="10375017" y="1485090"/>
              <a:ext cx="224506" cy="941145"/>
            </a:xfrm>
            <a:prstGeom prst="cube">
              <a:avLst>
                <a:gd name="adj" fmla="val 8711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6" name="直方体 125">
              <a:extLst>
                <a:ext uri="{FF2B5EF4-FFF2-40B4-BE49-F238E27FC236}">
                  <a16:creationId xmlns:a16="http://schemas.microsoft.com/office/drawing/2014/main" id="{83E9A7FB-2588-1814-CBF1-B17597371BED}"/>
                </a:ext>
              </a:extLst>
            </p:cNvPr>
            <p:cNvSpPr/>
            <p:nvPr/>
          </p:nvSpPr>
          <p:spPr>
            <a:xfrm>
              <a:off x="9795132" y="2275350"/>
              <a:ext cx="105263" cy="147577"/>
            </a:xfrm>
            <a:prstGeom prst="cube">
              <a:avLst>
                <a:gd name="adj" fmla="val 29431"/>
              </a:avLst>
            </a:prstGeom>
            <a:solidFill>
              <a:srgbClr val="F7A1A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7" name="直方体 126">
              <a:extLst>
                <a:ext uri="{FF2B5EF4-FFF2-40B4-BE49-F238E27FC236}">
                  <a16:creationId xmlns:a16="http://schemas.microsoft.com/office/drawing/2014/main" id="{470DA609-1147-6394-CCC3-227C3EBC90D4}"/>
                </a:ext>
              </a:extLst>
            </p:cNvPr>
            <p:cNvSpPr/>
            <p:nvPr/>
          </p:nvSpPr>
          <p:spPr>
            <a:xfrm>
              <a:off x="9956253" y="2276188"/>
              <a:ext cx="105263" cy="147577"/>
            </a:xfrm>
            <a:prstGeom prst="cube">
              <a:avLst>
                <a:gd name="adj" fmla="val 29431"/>
              </a:avLst>
            </a:prstGeom>
            <a:solidFill>
              <a:srgbClr val="F7A1A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cxnSp>
        <p:nvCxnSpPr>
          <p:cNvPr id="140" name="直線矢印コネクタ 139">
            <a:extLst>
              <a:ext uri="{FF2B5EF4-FFF2-40B4-BE49-F238E27FC236}">
                <a16:creationId xmlns:a16="http://schemas.microsoft.com/office/drawing/2014/main" id="{CD76290B-F507-C922-BE79-0E3E037258F1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3372926" y="1972604"/>
            <a:ext cx="0" cy="1627846"/>
          </a:xfrm>
          <a:prstGeom prst="straightConnector1">
            <a:avLst/>
          </a:prstGeom>
          <a:ln w="76200">
            <a:solidFill>
              <a:srgbClr val="00B05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3DC69CA-57FF-496A-24A5-F42F9FA7D4E9}"/>
              </a:ext>
            </a:extLst>
          </p:cNvPr>
          <p:cNvSpPr txBox="1"/>
          <p:nvPr/>
        </p:nvSpPr>
        <p:spPr>
          <a:xfrm>
            <a:off x="2220537" y="2795053"/>
            <a:ext cx="2272566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 w</a:t>
            </a:r>
            <a:r>
              <a:rPr lang="en-US" altLang="ja-JP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eights</a:t>
            </a:r>
            <a:endParaRPr kumimoji="1" lang="ja-JP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A5270D4F-2563-4511-BA30-8B0EC4ACFD67}"/>
                  </a:ext>
                </a:extLst>
              </p:cNvPr>
              <p:cNvSpPr txBox="1"/>
              <p:nvPr/>
            </p:nvSpPr>
            <p:spPr>
              <a:xfrm>
                <a:off x="5310522" y="3844565"/>
                <a:ext cx="668704" cy="53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kumimoji="0" lang="en-US" altLang="ja-JP" sz="2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altLang="ja-JP" sz="2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kumimoji="0" lang="en-US" altLang="ja-JP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kumimoji="0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kumimoji="0" lang="ja-JP" altLang="ja-JP" sz="2400" dirty="0"/>
              </a:p>
            </p:txBody>
          </p:sp>
        </mc:Choice>
        <mc:Fallback xmlns="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A5270D4F-2563-4511-BA30-8B0EC4ACF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522" y="3844565"/>
                <a:ext cx="668704" cy="5361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F39F81B-BA9D-41A0-B504-187937F663CF}"/>
                  </a:ext>
                </a:extLst>
              </p:cNvPr>
              <p:cNvSpPr txBox="1"/>
              <p:nvPr/>
            </p:nvSpPr>
            <p:spPr>
              <a:xfrm>
                <a:off x="5310522" y="5464306"/>
                <a:ext cx="668704" cy="53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kumimoji="0" lang="en-US" altLang="ja-JP" sz="2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altLang="ja-JP" sz="2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kumimoji="0" lang="en-US" altLang="ja-JP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kumimoji="0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ja-JP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kumimoji="0" lang="ja-JP" altLang="ja-JP" sz="2400" dirty="0"/>
              </a:p>
            </p:txBody>
          </p:sp>
        </mc:Choice>
        <mc:Fallback xmlns="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F39F81B-BA9D-41A0-B504-187937F66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522" y="5464306"/>
                <a:ext cx="668704" cy="53610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B6B520EE-8001-40D1-923C-EB49380342CE}"/>
              </a:ext>
            </a:extLst>
          </p:cNvPr>
          <p:cNvCxnSpPr>
            <a:cxnSpLocks/>
          </p:cNvCxnSpPr>
          <p:nvPr/>
        </p:nvCxnSpPr>
        <p:spPr>
          <a:xfrm>
            <a:off x="6653611" y="4210379"/>
            <a:ext cx="0" cy="150340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16D44DC1-4555-4F52-B040-EC3BF422DF81}"/>
              </a:ext>
            </a:extLst>
          </p:cNvPr>
          <p:cNvSpPr/>
          <p:nvPr/>
        </p:nvSpPr>
        <p:spPr>
          <a:xfrm>
            <a:off x="200162" y="50445"/>
            <a:ext cx="11767125" cy="2396435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A737365-3E86-48B6-8D20-355CC80AFD63}"/>
              </a:ext>
            </a:extLst>
          </p:cNvPr>
          <p:cNvSpPr txBox="1"/>
          <p:nvPr/>
        </p:nvSpPr>
        <p:spPr>
          <a:xfrm>
            <a:off x="213809" y="70096"/>
            <a:ext cx="2425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b="1" dirty="0">
                <a:solidFill>
                  <a:srgbClr val="000000"/>
                </a:solidFill>
                <a:latin typeface="Arial Unicode MS"/>
              </a:rPr>
              <a:t>Training </a:t>
            </a:r>
            <a:r>
              <a:rPr kumimoji="0" lang="en-US" altLang="ja-JP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phase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(Every </a:t>
            </a:r>
            <a:r>
              <a:rPr kumimoji="0" lang="en-US" altLang="ja-JP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epoch)</a:t>
            </a:r>
            <a:endParaRPr kumimoji="0" lang="ja-JP" altLang="ja-JP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C1E94E96-D118-42F4-9450-2DD6166313E8}"/>
              </a:ext>
            </a:extLst>
          </p:cNvPr>
          <p:cNvCxnSpPr>
            <a:cxnSpLocks/>
          </p:cNvCxnSpPr>
          <p:nvPr/>
        </p:nvCxnSpPr>
        <p:spPr>
          <a:xfrm flipH="1">
            <a:off x="6213514" y="4244985"/>
            <a:ext cx="46895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276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53</Words>
  <Application>Microsoft Office PowerPoint</Application>
  <PresentationFormat>ワイド画面</PresentationFormat>
  <Paragraphs>24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Arial Unicode MS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廣池　友哉</dc:creator>
  <cp:lastModifiedBy>廣池　友哉</cp:lastModifiedBy>
  <cp:revision>25</cp:revision>
  <dcterms:created xsi:type="dcterms:W3CDTF">2025-09-11T22:40:17Z</dcterms:created>
  <dcterms:modified xsi:type="dcterms:W3CDTF">2026-01-27T01:51:27Z</dcterms:modified>
</cp:coreProperties>
</file>